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373213"/>
            <a:ext cx="30289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878038"/>
            <a:ext cx="9501187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0F172A"/>
                </a:solidFill>
                <a:latin typeface="Poppins"/>
              </a:rPr>
              <a:t>Análisis de Reseñas</a:t>
            </a:r>
            <a:r>
              <a:rPr sz="435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4350" b="1" i="0" u="none" dirty="0" err="1">
                <a:solidFill>
                  <a:srgbClr val="0F172A"/>
                </a:solidFill>
                <a:latin typeface="Poppins"/>
              </a:rPr>
              <a:t>Hoteleras</a:t>
            </a:r>
            <a:endParaRPr sz="43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1625" y="3741836"/>
            <a:ext cx="904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Evaluación de Rating, Sentimiento (NLP) y Perfil de Viajero para Identificar Oportunidades Estratégicas y de Operación</a:t>
            </a:r>
          </a:p>
        </p:txBody>
      </p:sp>
      <p:sp>
        <p:nvSpPr>
          <p:cNvPr id="8" name="Lágrima 7">
            <a:extLst>
              <a:ext uri="{FF2B5EF4-FFF2-40B4-BE49-F238E27FC236}">
                <a16:creationId xmlns:a16="http://schemas.microsoft.com/office/drawing/2014/main" id="{918B77F8-8CDE-A1D4-4283-E079C1A3293F}"/>
              </a:ext>
            </a:extLst>
          </p:cNvPr>
          <p:cNvSpPr/>
          <p:nvPr/>
        </p:nvSpPr>
        <p:spPr>
          <a:xfrm>
            <a:off x="10402211" y="0"/>
            <a:ext cx="1789789" cy="1647785"/>
          </a:xfrm>
          <a:prstGeom prst="teardrop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0800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10639" y="2857500"/>
            <a:ext cx="577072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oppins"/>
              </a:rPr>
              <a:t>01. Rating y Categoría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285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Análisis descriptivo de las puntuaciones de usuario comparadas con las estrellas oficiales del hotel.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7300"/>
            <a:ext cx="11049000" cy="512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548187"/>
            <a:ext cx="1049655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476250"/>
            <a:ext cx="1144143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Rating por Categoría de Hotel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57150" cy="542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0800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90674" y="2857500"/>
            <a:ext cx="521065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oppins"/>
              </a:rPr>
              <a:t>02. Sentimiento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285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Procesamiento del lenguaje natural sobre el texto completo de las opiniones escritas por los huéspedes.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7300"/>
            <a:ext cx="11049000" cy="512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014912"/>
            <a:ext cx="1049655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476250"/>
            <a:ext cx="1144143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Distribución de Sentimientos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57150" cy="542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0800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65571" y="2857500"/>
            <a:ext cx="6860857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oppins"/>
              </a:rPr>
              <a:t>03. Brecha de Expectativa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285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Identificación de los hoteles con mayor desalineación entre la categoría prometida y la vivencia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076763"/>
              </p:ext>
            </p:extLst>
          </p:nvPr>
        </p:nvGraphicFramePr>
        <p:xfrm>
          <a:off x="571500" y="2219325"/>
          <a:ext cx="110489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5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7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2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oppins"/>
                        </a:rPr>
                        <a:t>Hotel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oppins"/>
                        </a:rPr>
                        <a:t>Categoría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oppins"/>
                        </a:rPr>
                        <a:t>Rating Prom.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oppins"/>
                        </a:rPr>
                        <a:t>Expectation Gap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oppins"/>
                        </a:rPr>
                        <a:t>Diagnóstico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Hostal Las Termas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2★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3.63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+1.63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Supera expectativas básicas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Hotel Faro Viejo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3.61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+0.61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Alta satisfacción en su segmento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Cabañas del Bosque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4★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3.30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-0.70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Bajo desempeño para 4 estrellas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Gran Hotel Andes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5★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3.39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-1.61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Servicio deficiente para lujo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Lato"/>
                        </a:rPr>
                        <a:t>Resort Laguna Azul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5★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3.23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Lato"/>
                        </a:rPr>
                        <a:t>-1.77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350" b="0" i="0" u="none" dirty="0">
                          <a:solidFill>
                            <a:srgbClr val="475569"/>
                          </a:solidFill>
                          <a:latin typeface="Lato"/>
                        </a:rPr>
                        <a:t>Problema critico de </a:t>
                      </a:r>
                      <a:r>
                        <a:rPr lang="es-AR" sz="1350" b="0" i="0" u="none" dirty="0" err="1">
                          <a:solidFill>
                            <a:srgbClr val="475569"/>
                          </a:solidFill>
                          <a:latin typeface="Lato"/>
                        </a:rPr>
                        <a:t>atencion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Lato"/>
                        </a:rPr>
                        <a:t> y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Lato"/>
                        </a:rPr>
                        <a:t>fallas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Lato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Lato"/>
                        </a:rPr>
                        <a:t>mayores</a:t>
                      </a:r>
                      <a:endParaRPr sz="1350" b="0" i="0" u="none" dirty="0">
                        <a:solidFill>
                          <a:srgbClr val="475569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38437"/>
            <a:ext cx="22053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76835" y="2738437"/>
            <a:ext cx="1548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4945" y="2738437"/>
            <a:ext cx="1815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40350" y="2738437"/>
            <a:ext cx="2227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67861" y="2738437"/>
            <a:ext cx="32526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1837"/>
            <a:ext cx="22053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76835" y="3271837"/>
            <a:ext cx="1548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4945" y="3271837"/>
            <a:ext cx="1815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0350" y="3271837"/>
            <a:ext cx="2227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7861" y="3271837"/>
            <a:ext cx="32526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805237"/>
            <a:ext cx="22053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76835" y="3805237"/>
            <a:ext cx="1548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4945" y="3805237"/>
            <a:ext cx="1815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40350" y="3805237"/>
            <a:ext cx="2227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67861" y="3805237"/>
            <a:ext cx="32526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38637"/>
            <a:ext cx="22053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76835" y="4338637"/>
            <a:ext cx="1548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24945" y="4338637"/>
            <a:ext cx="1815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0350" y="4338637"/>
            <a:ext cx="2227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7861" y="4338637"/>
            <a:ext cx="32526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72037"/>
            <a:ext cx="22053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76835" y="4872037"/>
            <a:ext cx="1548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24945" y="4872037"/>
            <a:ext cx="1815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0350" y="4872037"/>
            <a:ext cx="2227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67861" y="4872037"/>
            <a:ext cx="32526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405437"/>
            <a:ext cx="22053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76835" y="5405437"/>
            <a:ext cx="1548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24945" y="5405437"/>
            <a:ext cx="1815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40350" y="5405437"/>
            <a:ext cx="2227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67861" y="5405437"/>
            <a:ext cx="32526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627" y="2895600"/>
            <a:ext cx="561975" cy="247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664" y="3470929"/>
            <a:ext cx="561975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350" y="3995099"/>
            <a:ext cx="523875" cy="2476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567" y="4519613"/>
            <a:ext cx="523875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7715" y="5024437"/>
            <a:ext cx="523875" cy="2476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609" y="500062"/>
            <a:ext cx="1144143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Poppins"/>
              </a:rPr>
              <a:t>Hoteles</a:t>
            </a:r>
            <a:r>
              <a:rPr sz="2850" b="1" i="0" u="none" dirty="0">
                <a:solidFill>
                  <a:srgbClr val="0F172A"/>
                </a:solidFill>
                <a:latin typeface="Poppins"/>
              </a:rPr>
              <a:t> con </a:t>
            </a:r>
            <a:r>
              <a:rPr lang="es-AR" sz="2850" b="1" i="0" u="none" dirty="0">
                <a:solidFill>
                  <a:srgbClr val="0F172A"/>
                </a:solidFill>
                <a:latin typeface="Poppins"/>
              </a:rPr>
              <a:t>m</a:t>
            </a:r>
            <a:r>
              <a:rPr sz="2850" b="1" i="0" u="none" dirty="0" err="1">
                <a:solidFill>
                  <a:srgbClr val="0F172A"/>
                </a:solidFill>
                <a:latin typeface="Poppins"/>
              </a:rPr>
              <a:t>ayor</a:t>
            </a:r>
            <a:r>
              <a:rPr sz="285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lang="es-AR" sz="2850" b="1" dirty="0">
                <a:solidFill>
                  <a:srgbClr val="0F172A"/>
                </a:solidFill>
                <a:latin typeface="Poppins"/>
              </a:rPr>
              <a:t>d</a:t>
            </a:r>
            <a:r>
              <a:rPr sz="2850" b="1" i="0" u="none" dirty="0" err="1">
                <a:solidFill>
                  <a:srgbClr val="0F172A"/>
                </a:solidFill>
                <a:latin typeface="Poppins"/>
              </a:rPr>
              <a:t>esfase</a:t>
            </a:r>
            <a:r>
              <a:rPr lang="es-AR" sz="2850" b="1" i="0" u="none" dirty="0">
                <a:solidFill>
                  <a:srgbClr val="0F172A"/>
                </a:solidFill>
                <a:latin typeface="Poppins"/>
              </a:rPr>
              <a:t> de reseñas</a:t>
            </a:r>
            <a:endParaRPr sz="28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71500" y="476250"/>
            <a:ext cx="57150" cy="542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0800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0671" y="2857500"/>
            <a:ext cx="5250656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oppins"/>
              </a:rPr>
              <a:t>04. Perfil del Viajero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285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Análisis de las necesidades y patrones de satisfacción según el motivo de viaje del huésped.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525"/>
            <a:ext cx="3492549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95525"/>
            <a:ext cx="3492549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95525"/>
            <a:ext cx="3492549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181350"/>
            <a:ext cx="228028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Viaje con Amigos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667125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Segmento más crítico. Tienen la menor proporción de sentimientos positivos (53.7%) y la mayor insatisfacción (25.4%), enfocándose en el precio y espacios comunes.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6024" y="3181350"/>
            <a:ext cx="25003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Negocios y Familia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667125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Segmento con mayor nivel de satisfacción (~65% opiniones positivas). Valoran la eficiencia en el check-in, la conectividad Wi-Fi y el confort de las instalaciones.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4324" y="3181350"/>
            <a:ext cx="17002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Pareja y Solo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4324" y="3667125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Comportamiento estable con ~62.5% de comentarios positivos. Priorizan la tranquilidad, la atención personalizada y la limpieza general del establecimiento.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19375"/>
            <a:ext cx="45720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619375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619375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476250"/>
            <a:ext cx="1144143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Sensibilidad por Motivo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57150" cy="542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571500"/>
            <a:ext cx="5390673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Paradoja del Lujo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352550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El Peso de las Expectativas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38325"/>
            <a:ext cx="52863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Un hotel de 5 estrellas cobra una tarifa premium basada en una promesa implícita de excelencia absoluta. Cualquier pequeña falla (Wi-Fi lento, demora en recepción) genera un alto nivel de fricción en la reseña escrita.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81325"/>
            <a:ext cx="5286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Por el contrario, los establecimientos de 2 o 3 estrellas que ofrecen un servicio impecable y limpio generan sorpresas muy positivas, resultando en ratings superiores al promedio de la categoría.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0250" y="2409825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Intervención Operativa Inmediata: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Realizar auditorías integrales en el Resort Laguna Azul y Gran Hotel Andes para corregir las deficiencias de servicio que hunden su evaluación.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3114675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Alineación Comercial de Expectativas: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Ajustar las descripciones promocionales en hoteles de 4 y 5 estrellas para garantizar que la promesa de venta coincida con la infraestructura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3819525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Estrategias por Segmento: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Adaptar la oferta para grupos de amigos (espacios comunitarios, agilidad en atención) para reducir la tasa de comentarios negativos (25.4%).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524375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Sistema de Monitoreo NLP Continuo: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Implementar alertas automáticas sobre el texto de las reseñas para reaccionar ante quejas específicas antes de que afecten la puntuación promedio.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419350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12420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3829050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533900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476250"/>
            <a:ext cx="1144143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Recomendaciones Clave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57150" cy="542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62200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0F172A"/>
                </a:solidFill>
                <a:latin typeface="Poppins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54330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64748B"/>
                </a:solidFill>
                <a:latin typeface="Lato"/>
              </a:rPr>
              <a:t>Muchas gracias por su atención.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672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Lato SemiBold"/>
              </a:rPr>
              <a:t>Informe Preparado para la Cadena de Hoteles | Análisis de Satisfacción &amp; NLP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358140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33700" y="3588543"/>
            <a:ext cx="74199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https://www.lemon8-app.com/seo/image?item_id=7298875930460832262&amp;index=0&amp;sign=27d4af9288792845b4bb3b137a0bd4a8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33700" y="3821906"/>
            <a:ext cx="7419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www.lemon8-app.com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76250"/>
            <a:ext cx="1144143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57150" cy="542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539</Words>
  <Application>Microsoft Office PowerPoint</Application>
  <PresentationFormat>Panorámica</PresentationFormat>
  <Paragraphs>65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Azathot</cp:lastModifiedBy>
  <cp:revision>2</cp:revision>
  <dcterms:created xsi:type="dcterms:W3CDTF">2013-01-27T09:14:16Z</dcterms:created>
  <dcterms:modified xsi:type="dcterms:W3CDTF">2026-08-20T15:47:33Z</dcterms:modified>
  <cp:category/>
</cp:coreProperties>
</file>